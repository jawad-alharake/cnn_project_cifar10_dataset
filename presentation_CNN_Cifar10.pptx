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77" r:id="rId4"/>
    <p:sldId id="291" r:id="rId6"/>
    <p:sldId id="279" r:id="rId7"/>
    <p:sldId id="281" r:id="rId8"/>
    <p:sldId id="280" r:id="rId9"/>
    <p:sldId id="282" r:id="rId10"/>
    <p:sldId id="286" r:id="rId11"/>
    <p:sldId id="287" r:id="rId12"/>
    <p:sldId id="288" r:id="rId13"/>
    <p:sldId id="289" r:id="rId14"/>
    <p:sldId id="283" r:id="rId15"/>
    <p:sldId id="284" r:id="rId16"/>
    <p:sldId id="28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155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0A6CB85-96AA-417C-8ABD-3B2EF571081A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9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04" name="Google Shape;10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" name="Google Shape;12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/>
          </a:p>
        </p:txBody>
      </p:sp>
      <p:sp>
        <p:nvSpPr>
          <p:cNvPr id="122" name="Google Shape;12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endParaRPr lang="en-US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04" name="Google Shape;10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/>
          </a:p>
        </p:txBody>
      </p:sp>
      <p:sp>
        <p:nvSpPr>
          <p:cNvPr id="122" name="Google Shape;12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>
              <a:sym typeface="+mn-ea"/>
            </a:endParaRPr>
          </a:p>
        </p:txBody>
      </p:sp>
      <p:sp>
        <p:nvSpPr>
          <p:cNvPr id="122" name="Google Shape;12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/>
          </a:p>
        </p:txBody>
      </p:sp>
      <p:sp>
        <p:nvSpPr>
          <p:cNvPr id="122" name="Google Shape;12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2" name="Google Shape;262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2" name="Google Shape;262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95375" y="1442144"/>
            <a:ext cx="10001250" cy="16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38BDF8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Deep Learning-Based Image Classification on CIFAR10 Dataset</a:t>
            </a:r>
            <a:endParaRPr lang="en-US" sz="4800" b="0" i="0" u="none" strike="noStrike" cap="none">
              <a:solidFill>
                <a:srgbClr val="38BDF8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25316" y="3613844"/>
            <a:ext cx="1094136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Evaluating Custom CNNs vs. Transfer Learning (MobileNetV2)</a:t>
            </a:r>
            <a:endParaRPr lang="en-US" sz="3000" b="0" i="0" u="none" strike="noStrike" cap="none">
              <a:solidFill>
                <a:srgbClr val="F8FAFC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Google Shape;86;p13"/>
          <p:cNvSpPr txBox="1"/>
          <p:nvPr/>
        </p:nvSpPr>
        <p:spPr>
          <a:xfrm>
            <a:off x="752316" y="5661084"/>
            <a:ext cx="10941367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Jawad ALHARAKE</a:t>
            </a:r>
            <a:endParaRPr lang="en-US" sz="3000" b="0" i="0" u="none" strike="noStrike" cap="none">
              <a:solidFill>
                <a:srgbClr val="F8FAFC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14/07/2026</a:t>
            </a:r>
            <a:endParaRPr lang="en-US" sz="3000" b="0" i="0" u="none" strike="noStrike" cap="none">
              <a:solidFill>
                <a:srgbClr val="F8FAFC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762000"/>
            <a:ext cx="4900612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Project </a:t>
            </a:r>
            <a:r>
              <a:rPr lang="en-US" sz="3900" b="1" i="0" u="none" strike="noStrike" cap="none">
                <a:solidFill>
                  <a:srgbClr val="38BD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Objective</a:t>
            </a:r>
            <a:endParaRPr lang="en-US" sz="3900" b="1" i="0" u="none" strike="noStrike" cap="none">
              <a:solidFill>
                <a:srgbClr val="38BD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1656080"/>
            <a:ext cx="10346055" cy="81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primary goal of this project is to comparatively analyze two distinct approaches to deep learning image classification using the CIFAR-10 dataset:</a:t>
            </a:r>
            <a:endParaRPr lang="en-US" sz="1650" b="0" i="0" u="none" strike="noStrike" cap="none">
              <a:solidFill>
                <a:schemeClr val="bg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3" name="Google Shape;141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662555"/>
            <a:ext cx="3492500" cy="36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42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50" y="2662555"/>
            <a:ext cx="3492500" cy="36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3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00" y="2662555"/>
            <a:ext cx="3492500" cy="36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44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6775" y="29578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45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45074" y="29578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46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23374" y="29578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52;p17"/>
          <p:cNvSpPr txBox="1"/>
          <p:nvPr/>
        </p:nvSpPr>
        <p:spPr>
          <a:xfrm>
            <a:off x="866775" y="3767455"/>
            <a:ext cx="3047365" cy="216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Baseline Establishment:</a:t>
            </a:r>
            <a:r>
              <a:rPr lang="en-US" sz="1400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Build, train, and optimize a Custom Convolutional Neural Network (CNN) entirely from scratch to understand foundational feature extraction.</a:t>
            </a:r>
            <a:endParaRPr lang="en-US" altLang="en-US" sz="14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" name="Google Shape;154;p17"/>
          <p:cNvSpPr txBox="1"/>
          <p:nvPr/>
        </p:nvSpPr>
        <p:spPr>
          <a:xfrm>
            <a:off x="4645025" y="3767455"/>
            <a:ext cx="3047365" cy="216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Advanced Implementation:</a:t>
            </a:r>
            <a:r>
              <a:rPr lang="en-US" sz="1400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Implement Transfer Learning using a pre-trained MobileNetV2 backbone, modifying its classification head for our specific 10-class task.</a:t>
            </a:r>
            <a:endParaRPr lang="en-US" altLang="en-US" sz="14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" name="Google Shape;156;p17"/>
          <p:cNvSpPr txBox="1"/>
          <p:nvPr/>
        </p:nvSpPr>
        <p:spPr>
          <a:xfrm>
            <a:off x="8423275" y="3767455"/>
            <a:ext cx="3047365" cy="216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Comparative Analysis:</a:t>
            </a:r>
            <a:r>
              <a:rPr lang="en-US" sz="1400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Evaluate both models based on accuracy, loss stabilization, computational efficiency (CPU training time), and resistance to overfitting.</a:t>
            </a:r>
            <a:endParaRPr lang="en-US" altLang="en-US" sz="14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904875" y="3079115"/>
            <a:ext cx="44005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Google Sans Text"/>
                <a:ea typeface="Google Sans Text"/>
                <a:sym typeface="+mn-ea"/>
              </a:rPr>
              <a:t>🏗</a:t>
            </a:r>
            <a:endParaRPr lang="zh-CN" altLang="en-US" sz="1600">
              <a:latin typeface="Google Sans Text"/>
              <a:ea typeface="Google Sans Text"/>
              <a:sym typeface="+mn-ea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676140" y="3079115"/>
            <a:ext cx="44005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Google Sans Text"/>
                <a:ea typeface="Google Sans Text"/>
                <a:sym typeface="+mn-ea"/>
              </a:rPr>
              <a:t>🧩</a:t>
            </a:r>
            <a:endParaRPr lang="zh-CN" altLang="en-US" sz="1600">
              <a:latin typeface="Google Sans Text"/>
              <a:ea typeface="Google Sans Text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8504555" y="3079115"/>
            <a:ext cx="44005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600">
                <a:latin typeface="Google Sans Text"/>
                <a:ea typeface="Google Sans Text"/>
                <a:sym typeface="+mn-ea"/>
              </a:rPr>
              <a:t>⚖</a:t>
            </a:r>
            <a:endParaRPr lang="en-US" altLang="en-US" sz="1600">
              <a:latin typeface="Google Sans Text"/>
              <a:ea typeface="Google Sans Tex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2" grpId="1"/>
      <p:bldP spid="17" grpId="1"/>
      <p:bldP spid="14" grpId="0"/>
      <p:bldP spid="18" grpId="0"/>
      <p:bldP spid="14" grpId="1"/>
      <p:bldP spid="18" grpId="1"/>
      <p:bldP spid="10" grpId="0"/>
      <p:bldP spid="16" grpId="0"/>
      <p:bldP spid="10" grpId="1"/>
      <p:bldP spid="1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5000625"/>
            <a:ext cx="11012805" cy="163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1974850"/>
            <a:ext cx="5238750" cy="282067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284410"/>
            <a:ext cx="11601450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The Challenge: </a:t>
            </a:r>
            <a:r>
              <a:rPr lang="en-US" sz="3900" b="1" i="0" u="none" strike="noStrike" cap="none">
                <a:solidFill>
                  <a:srgbClr val="38BD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CIFAR-10 Dataset</a:t>
            </a:r>
            <a:endParaRPr lang="en-US" sz="3900" b="1" i="0" u="none" strike="noStrike" cap="none">
              <a:solidFill>
                <a:srgbClr val="38BD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469390"/>
            <a:ext cx="5524500" cy="81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CIFAR-10 dataset presents a unique challenge for </a:t>
            </a:r>
            <a:r>
              <a:rPr lang="en-US" sz="1650" b="1" i="0" u="none" strike="noStrike" cap="none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computer vision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models due to its structure: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904875" y="2329815"/>
            <a:ext cx="5191125" cy="81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Contains 60,000 color images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divided into 10 mutually exclusive classes (e.g., cars, birds, cats, ships).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904875" y="3190240"/>
            <a:ext cx="5278120" cy="162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50" b="1" i="0" u="none" strike="noStrike" cap="none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Low Resolution (32x32):</a:t>
            </a:r>
            <a:r>
              <a:rPr lang="en-US" alt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Because the images are extremely small, models cannot rely on high-definition textures and must instead learn to classify based on coarse, granular shapes and silhouettes.</a:t>
            </a:r>
            <a:endParaRPr lang="en-US" alt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800100" y="5097780"/>
            <a:ext cx="10522585" cy="142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350" b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 visual snapshot of a </a:t>
            </a:r>
            <a:r>
              <a:rPr lang="en-US" altLang="en-US" sz="1350" b="1" u="none" strike="noStrike" cap="none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preprocessed training batch sample</a:t>
            </a:r>
            <a:r>
              <a:rPr lang="en-US" altLang="en-US" sz="1350" b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of the CIFAR10 dataset showcasing different target classes.</a:t>
            </a:r>
            <a:endParaRPr lang="en-US" altLang="en-US" sz="1350" b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350" b="0" u="none" strike="noStrike" cap="none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Data augmentation strategy:</a:t>
            </a:r>
            <a:r>
              <a:rPr lang="en-US" altLang="en-US" sz="1350" b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Presence of slight shifts and black padding boundaries on the edges of the images (like the horse, bird, and airplane) --&gt; artificially enhance dataset variety to prevent overfitting.</a:t>
            </a:r>
            <a:endParaRPr lang="en-US" altLang="en-US" sz="1350" b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1371600" marR="0" lvl="3" indent="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1350" b="1" u="none" strike="noStrike" cap="none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train_transform = transforms.Compose([transforms.RandomCrop(32, padding=4)]</a:t>
            </a:r>
            <a:endParaRPr lang="en-US" altLang="en-US" sz="1350" b="1" u="none" strike="noStrike" cap="none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48626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36994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dataset_samples"/>
          <p:cNvPicPr>
            <a:picLocks noChangeAspect="1"/>
          </p:cNvPicPr>
          <p:nvPr/>
        </p:nvPicPr>
        <p:blipFill>
          <a:blip r:embed="rId5"/>
          <a:srcRect l="4498" r="5148"/>
          <a:stretch>
            <a:fillRect/>
          </a:stretch>
        </p:blipFill>
        <p:spPr>
          <a:xfrm>
            <a:off x="6404610" y="2150745"/>
            <a:ext cx="5180330" cy="229362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16" grpId="1"/>
      <p:bldP spid="113" grpId="0"/>
      <p:bldP spid="113" grpId="1"/>
      <p:bldP spid="114" grpId="0"/>
      <p:bldP spid="11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284410"/>
            <a:ext cx="1160145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900" b="1" i="0" u="none" strike="noStrike" cap="none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Dataset Distribution</a:t>
            </a:r>
            <a:r>
              <a:rPr lang="en-US" altLang="en-US" sz="3900" b="1" i="0" u="none" strike="noStrike" cap="none">
                <a:solidFill>
                  <a:srgbClr val="38BD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&amp; Split Strategy</a:t>
            </a:r>
            <a:endParaRPr lang="en-US" altLang="en-US" sz="3900" b="1" i="0" u="none" strike="noStrike" cap="none">
              <a:solidFill>
                <a:srgbClr val="38BD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298575"/>
            <a:ext cx="5524500" cy="40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50" b="0" i="0" u="none" strike="noStrike" cap="none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Total Data Pool: 60,000 total images</a:t>
            </a:r>
            <a:endParaRPr lang="en-US" altLang="en-US" sz="1650" b="0" i="0" u="none" strike="noStrike" cap="none">
              <a:solidFill>
                <a:schemeClr val="bg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3" name="Google Shape;141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884015"/>
            <a:ext cx="3492549" cy="44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42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1884015"/>
            <a:ext cx="3492549" cy="44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3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1884015"/>
            <a:ext cx="3492549" cy="44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44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6775" y="217929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45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45074" y="217929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46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23374" y="217929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52;p17"/>
          <p:cNvSpPr txBox="1"/>
          <p:nvPr/>
        </p:nvSpPr>
        <p:spPr>
          <a:xfrm>
            <a:off x="866775" y="2988915"/>
            <a:ext cx="3047099" cy="64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1. </a:t>
            </a:r>
            <a:r>
              <a:rPr lang="en-US" altLang="en-US" sz="1400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Training Set (66.6% | 40,000 Images):</a:t>
            </a:r>
            <a:r>
              <a:rPr lang="en-US" altLang="en-US" sz="1400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The "study material" for the networks.</a:t>
            </a:r>
            <a:endParaRPr lang="en-US" altLang="en-US" sz="14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" name="Google Shape;153;p17"/>
          <p:cNvSpPr txBox="1"/>
          <p:nvPr/>
        </p:nvSpPr>
        <p:spPr>
          <a:xfrm>
            <a:off x="866775" y="4088100"/>
            <a:ext cx="2901999" cy="1179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Used directly by the models to adjust internal weights, learn edge detection, and map out class-specific geometries.</a:t>
            </a:r>
            <a:endParaRPr lang="en-US" altLang="en-US" sz="12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" name="Google Shape;154;p17"/>
          <p:cNvSpPr txBox="1"/>
          <p:nvPr/>
        </p:nvSpPr>
        <p:spPr>
          <a:xfrm>
            <a:off x="4645074" y="2988915"/>
            <a:ext cx="3047099" cy="861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2. </a:t>
            </a:r>
            <a:r>
              <a:rPr lang="en-US" altLang="en-US" sz="1400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Validation Set (16.6% | 10,000 Images): </a:t>
            </a:r>
            <a:r>
              <a:rPr lang="en-US" altLang="en-US" sz="1400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"practice exam" run automatically at the end of every single epoch.</a:t>
            </a:r>
            <a:endParaRPr lang="en-US" altLang="en-US" sz="14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" name="Google Shape;155;p17"/>
          <p:cNvSpPr txBox="1"/>
          <p:nvPr/>
        </p:nvSpPr>
        <p:spPr>
          <a:xfrm>
            <a:off x="4645074" y="4088735"/>
            <a:ext cx="2901999" cy="147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Provides an unbiased look at model generalization. This is the data that the </a:t>
            </a:r>
            <a:r>
              <a:rPr lang="en-US" altLang="en-US" sz="1200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Early Stopping</a:t>
            </a:r>
            <a:r>
              <a:rPr lang="en-US" altLang="en-US" sz="1200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mechanism monitors to detect and prevent overfitting.</a:t>
            </a:r>
            <a:endParaRPr lang="en-US" altLang="en-US" sz="12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" name="Google Shape;156;p17"/>
          <p:cNvSpPr txBox="1"/>
          <p:nvPr/>
        </p:nvSpPr>
        <p:spPr>
          <a:xfrm>
            <a:off x="8423374" y="2988915"/>
            <a:ext cx="3047099" cy="64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3. </a:t>
            </a:r>
            <a:r>
              <a:rPr lang="en-US" altLang="en-US" sz="1400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Test Set (16.6% | 10,000 Images):</a:t>
            </a:r>
            <a:r>
              <a:rPr lang="en-US" altLang="en-US" sz="1400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The final "unseen exam" locked away until training is entirely finished.</a:t>
            </a:r>
            <a:endParaRPr lang="en-US" altLang="en-US" sz="14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" name="Google Shape;157;p17"/>
          <p:cNvSpPr txBox="1"/>
          <p:nvPr/>
        </p:nvSpPr>
        <p:spPr>
          <a:xfrm>
            <a:off x="8423374" y="4088100"/>
            <a:ext cx="2901999" cy="1179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Never used to tweak the models; used strictly to calculate the final accuracy metrics and render the final confusion matrices.</a:t>
            </a:r>
            <a:endParaRPr lang="en-US" altLang="en-US" sz="12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904875" y="2300605"/>
            <a:ext cx="44005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Google Sans Text"/>
                <a:ea typeface="Google Sans Text"/>
                <a:sym typeface="+mn-ea"/>
              </a:rPr>
              <a:t>📚</a:t>
            </a:r>
            <a:endParaRPr lang="zh-CN" altLang="en-US" sz="1600">
              <a:latin typeface="Google Sans Text"/>
              <a:ea typeface="Google Sans Text"/>
              <a:sym typeface="+mn-ea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676140" y="2300605"/>
            <a:ext cx="44005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Google Sans Text"/>
                <a:ea typeface="Google Sans Text"/>
                <a:sym typeface="+mn-ea"/>
              </a:rPr>
              <a:t>🎛</a:t>
            </a:r>
            <a:endParaRPr lang="zh-CN" altLang="en-US" sz="1600">
              <a:latin typeface="Google Sans Text"/>
              <a:ea typeface="Google Sans Text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8458835" y="2300605"/>
            <a:ext cx="44005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Google Sans Text"/>
                <a:ea typeface="Google Sans Text"/>
                <a:sym typeface="+mn-ea"/>
              </a:rPr>
              <a:t>📝</a:t>
            </a:r>
            <a:endParaRPr lang="zh-CN" altLang="en-US" sz="1600">
              <a:latin typeface="Google Sans Text"/>
              <a:ea typeface="Google Sans Text"/>
              <a:sym typeface="+mn-ea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7" grpId="0"/>
      <p:bldP spid="12" grpId="1"/>
      <p:bldP spid="13" grpId="1"/>
      <p:bldP spid="17" grpId="1"/>
      <p:bldP spid="14" grpId="0"/>
      <p:bldP spid="15" grpId="0"/>
      <p:bldP spid="18" grpId="0"/>
      <p:bldP spid="14" grpId="1"/>
      <p:bldP spid="15" grpId="1"/>
      <p:bldP spid="1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917440"/>
            <a:ext cx="5429250" cy="168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191250" y="4917440"/>
            <a:ext cx="5429250" cy="167830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13715"/>
            <a:ext cx="11601450" cy="742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Custom CNN: </a:t>
            </a:r>
            <a:r>
              <a:rPr lang="en-US" sz="3900" b="1" i="0" u="none" strike="noStrike" cap="none">
                <a:solidFill>
                  <a:srgbClr val="38BD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Architecture &amp; Dimensions</a:t>
            </a:r>
            <a:endParaRPr lang="en-US" sz="3900" b="1" i="0" u="none" strike="noStrike" cap="none">
              <a:solidFill>
                <a:srgbClr val="38BD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71525" y="5117266"/>
            <a:ext cx="52806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Optimization (Adam)</a:t>
            </a:r>
            <a:endParaRPr lang="en-US" sz="1500" b="0" i="0" u="none" strike="noStrike" cap="none">
              <a:solidFill>
                <a:srgbClr val="38BDF8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771525" y="5441315"/>
            <a:ext cx="5229860" cy="95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Uses Adam optimizer for adaptive learning rates per parameter, ensuring faster convergence than standard SGD.</a:t>
            </a:r>
            <a:endParaRPr lang="en-US" sz="12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6391275" y="5117266"/>
            <a:ext cx="52806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Output Activation (Logits)</a:t>
            </a:r>
            <a:endParaRPr lang="en-US" sz="1500" b="0" i="0" u="none" strike="noStrike" cap="none">
              <a:solidFill>
                <a:srgbClr val="38BDF8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391275" y="5441315"/>
            <a:ext cx="5186680" cy="95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No explicit softmax is added to the final layer. Unlike Keras, PyTorch handles the Softmax math internally within </a:t>
            </a:r>
            <a:r>
              <a:rPr lang="en-US" sz="1200" b="0" i="0" u="none" strike="noStrike" cap="none">
                <a:solidFill>
                  <a:srgbClr val="A5B4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nn.CrossEntropyLoss</a:t>
            </a:r>
            <a:r>
              <a:rPr lang="en-US" sz="12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for numerical stability.</a:t>
            </a:r>
            <a:endParaRPr lang="en-US" altLang="en-US" sz="1200" b="0" i="0" u="none" strike="noStrike" cap="none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rcRect l="4777" t="10614" r="2382" b="27207"/>
          <a:stretch>
            <a:fillRect/>
          </a:stretch>
        </p:blipFill>
        <p:spPr>
          <a:xfrm>
            <a:off x="571500" y="1475740"/>
            <a:ext cx="8573770" cy="33369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227445" y="3972560"/>
            <a:ext cx="7258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 b="1">
                <a:latin typeface="Calibri" panose="020F0502020204030204" charset="0"/>
                <a:cs typeface="Calibri" panose="020F0502020204030204" charset="0"/>
              </a:rPr>
              <a:t>Linear</a:t>
            </a:r>
            <a:endParaRPr lang="en-US" sz="1000" b="1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sz="1000" b="1">
                <a:latin typeface="Calibri" panose="020F0502020204030204" charset="0"/>
                <a:cs typeface="Calibri" panose="020F0502020204030204" charset="0"/>
              </a:rPr>
              <a:t>ReLU</a:t>
            </a:r>
            <a:endParaRPr lang="en-US" sz="10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434070" y="4043045"/>
            <a:ext cx="7258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 b="1">
                <a:latin typeface="Calibri" panose="020F0502020204030204" charset="0"/>
                <a:cs typeface="Calibri" panose="020F0502020204030204" charset="0"/>
              </a:rPr>
              <a:t>Linear</a:t>
            </a:r>
            <a:endParaRPr lang="en-US" sz="10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384415" y="3972560"/>
            <a:ext cx="7258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 b="1">
                <a:latin typeface="Calibri" panose="020F0502020204030204" charset="0"/>
                <a:cs typeface="Calibri" panose="020F0502020204030204" charset="0"/>
              </a:rPr>
              <a:t>Linear</a:t>
            </a:r>
            <a:endParaRPr lang="en-US" sz="1000" b="1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sz="1000" b="1">
                <a:latin typeface="Calibri" panose="020F0502020204030204" charset="0"/>
                <a:cs typeface="Calibri" panose="020F0502020204030204" charset="0"/>
              </a:rPr>
              <a:t>ReLU</a:t>
            </a:r>
            <a:endParaRPr lang="en-US" sz="10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Google Shape;132;p16"/>
          <p:cNvSpPr txBox="1"/>
          <p:nvPr/>
        </p:nvSpPr>
        <p:spPr>
          <a:xfrm>
            <a:off x="2867660" y="1526540"/>
            <a:ext cx="2520950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C00000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PyTorch Framework</a:t>
            </a:r>
            <a:endParaRPr lang="en-US" sz="2000" b="1" i="0" u="none" strike="noStrike" cap="none">
              <a:solidFill>
                <a:srgbClr val="C00000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9775" y="3451860"/>
            <a:ext cx="675005" cy="283210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9239885" y="1786255"/>
            <a:ext cx="2774950" cy="2676525"/>
          </a:xfrm>
          <a:prstGeom prst="rect">
            <a:avLst/>
          </a:prstGeom>
          <a:solidFill>
            <a:srgbClr val="334155"/>
          </a:solidFill>
        </p:spPr>
        <p:txBody>
          <a:bodyPr wrap="square">
            <a:spAutoFit/>
          </a:bodyPr>
          <a:p>
            <a:pPr indent="0" fontAlgn="auto">
              <a:lnSpc>
                <a:spcPct val="100000"/>
              </a:lnSpc>
            </a:pPr>
            <a:r>
              <a:rPr lang="en-US" altLang="en-US" sz="120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self.classifier=nn.Sequential(</a:t>
            </a:r>
            <a:endParaRPr lang="en-US" altLang="en-US" sz="120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            # Fully Connected Layer 1</a:t>
            </a:r>
            <a:endParaRPr lang="en-US" altLang="en-US" sz="120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            nn.Linear(128, 512),</a:t>
            </a:r>
            <a:endParaRPr lang="en-US" altLang="en-US" sz="120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            nn.ReLU(inplace=True),</a:t>
            </a:r>
            <a:endParaRPr lang="en-US" altLang="en-US" sz="120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            nn.Dropout(p=0.45),</a:t>
            </a:r>
            <a:endParaRPr lang="en-US" altLang="en-US" sz="120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            </a:t>
            </a:r>
            <a:endParaRPr lang="en-US" altLang="en-US" sz="120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            # Fully Connected Layer 2</a:t>
            </a:r>
            <a:endParaRPr lang="en-US" altLang="en-US" sz="120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            nn.Linear(512, 256),</a:t>
            </a:r>
            <a:endParaRPr lang="en-US" altLang="en-US" sz="120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457200" fontAlgn="auto">
              <a:lnSpc>
                <a:spcPct val="100000"/>
              </a:lnSpc>
            </a:pPr>
            <a:r>
              <a:rPr lang="en-US" altLang="en-US" sz="120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nn.ReLU(inplace=True),</a:t>
            </a:r>
            <a:endParaRPr lang="en-US" altLang="en-US" sz="120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            nn.Dropout(p=0.25),</a:t>
            </a:r>
            <a:endParaRPr lang="en-US" altLang="en-US" sz="120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            </a:t>
            </a:r>
            <a:endParaRPr lang="en-US" altLang="en-US" sz="120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            # Final Output Layer</a:t>
            </a:r>
            <a:endParaRPr lang="en-US" altLang="en-US" sz="120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            nn.Linear(256, num_classes)</a:t>
            </a:r>
            <a:endParaRPr lang="en-US" altLang="en-US" sz="120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        )</a:t>
            </a:r>
            <a:endParaRPr lang="en-US" altLang="en-US" sz="1200" b="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33" grpId="0"/>
      <p:bldP spid="132" grpId="1"/>
      <p:bldP spid="133" grpId="1"/>
      <p:bldP spid="134" grpId="0"/>
      <p:bldP spid="135" grpId="0"/>
      <p:bldP spid="134" grpId="1"/>
      <p:bldP spid="135" grpId="1"/>
      <p:bldP spid="7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13715"/>
            <a:ext cx="11601450" cy="742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900" b="1" i="0" u="none" strike="noStrike" cap="none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Transfer Learning:</a:t>
            </a:r>
            <a:r>
              <a:rPr lang="en-US" altLang="en-US" sz="3900" b="1" i="0" u="none" strike="noStrike" cap="none">
                <a:solidFill>
                  <a:srgbClr val="38BD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MobileNetV2</a:t>
            </a:r>
            <a:endParaRPr lang="en-US" altLang="en-US" sz="3900" b="1" i="0" u="none" strike="noStrike" cap="none">
              <a:solidFill>
                <a:srgbClr val="38BD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30" y="1514475"/>
            <a:ext cx="9904730" cy="437007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15265" y="6297295"/>
            <a:ext cx="11976735" cy="37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100">
                <a:solidFill>
                  <a:schemeClr val="bg1"/>
                </a:solidFill>
              </a:rPr>
              <a:t>Akay, Metin &amp; Du, Yong &amp; Sershen, Cheryl &amp; Wu, Minghua &amp; Chen, Ting &amp; Assassi, Shervin &amp; Mohan, Chandra &amp; Akay, Yasemin. (2021). Deep Learning Classification of Systemic Sclerosis Skin Using the MobileNetV2 Model. IEEE Open Journal of Engineering in Medicine and Biology. 2. 104-110. 10.1109/OJEMB.2021.3066097. </a:t>
            </a:r>
            <a:endParaRPr lang="en-US" altLang="en-US" sz="1100">
              <a:solidFill>
                <a:schemeClr val="bg1"/>
              </a:solidFill>
            </a:endParaRPr>
          </a:p>
          <a:p>
            <a:endParaRPr lang="en-US" altLang="en-US" sz="1100">
              <a:solidFill>
                <a:schemeClr val="bg1"/>
              </a:solidFill>
            </a:endParaRPr>
          </a:p>
        </p:txBody>
      </p:sp>
      <p:sp>
        <p:nvSpPr>
          <p:cNvPr id="3" name="Google Shape;132;p16"/>
          <p:cNvSpPr txBox="1"/>
          <p:nvPr/>
        </p:nvSpPr>
        <p:spPr>
          <a:xfrm>
            <a:off x="1126490" y="1711960"/>
            <a:ext cx="2520950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C00000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Frozen Parameters</a:t>
            </a:r>
            <a:endParaRPr lang="en-US" sz="2000" b="1" i="0" u="none" strike="noStrike" cap="none">
              <a:solidFill>
                <a:srgbClr val="C00000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6" name="Google Shape;132;p16"/>
          <p:cNvSpPr txBox="1"/>
          <p:nvPr/>
        </p:nvSpPr>
        <p:spPr>
          <a:xfrm>
            <a:off x="6195695" y="5365115"/>
            <a:ext cx="1877060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C00000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Original Head</a:t>
            </a:r>
            <a:endParaRPr lang="en-US" sz="2000" b="1" i="0" u="none" strike="noStrike" cap="none">
              <a:solidFill>
                <a:srgbClr val="C00000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26490" y="3837305"/>
            <a:ext cx="1081405" cy="353695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647440" y="1711960"/>
            <a:ext cx="3450590" cy="460375"/>
          </a:xfrm>
          <a:prstGeom prst="rect">
            <a:avLst/>
          </a:prstGeom>
          <a:solidFill>
            <a:srgbClr val="334155"/>
          </a:solidFill>
        </p:spPr>
        <p:txBody>
          <a:bodyPr wrap="square">
            <a:spAutoFit/>
          </a:bodyPr>
          <a:p>
            <a:pPr indent="0" fontAlgn="auto">
              <a:lnSpc>
                <a:spcPct val="100000"/>
              </a:lnSpc>
            </a:pPr>
            <a:r>
              <a:rPr lang="en-US" altLang="en-US" sz="1200" b="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for param in model.features.parameters():</a:t>
            </a:r>
            <a:endParaRPr lang="en-US" altLang="en-US" sz="1200" b="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 b="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   param.requires_grad = False</a:t>
            </a:r>
            <a:endParaRPr lang="en-US" altLang="en-US" sz="1200" b="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04265" y="4253230"/>
            <a:ext cx="7395210" cy="460375"/>
          </a:xfrm>
          <a:prstGeom prst="rect">
            <a:avLst/>
          </a:prstGeom>
          <a:solidFill>
            <a:srgbClr val="334155"/>
          </a:solidFill>
        </p:spPr>
        <p:txBody>
          <a:bodyPr wrap="square">
            <a:spAutoFit/>
          </a:bodyPr>
          <a:p>
            <a:pPr indent="0" fontAlgn="auto">
              <a:lnSpc>
                <a:spcPct val="100000"/>
              </a:lnSpc>
            </a:pPr>
            <a:r>
              <a:rPr lang="en-US" altLang="en-US" sz="1200" b="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if isinstance(module, nn.BatchNorm2d) and not any(p.requires_grad for p in module.parameters()):</a:t>
            </a:r>
            <a:endParaRPr lang="en-US" altLang="en-US" sz="1200" b="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 b="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   module.eval()</a:t>
            </a:r>
            <a:endParaRPr lang="en-US" altLang="en-US" sz="1200" b="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953375" y="5353685"/>
            <a:ext cx="4094480" cy="460375"/>
          </a:xfrm>
          <a:prstGeom prst="rect">
            <a:avLst/>
          </a:prstGeom>
          <a:solidFill>
            <a:srgbClr val="334155"/>
          </a:solidFill>
        </p:spPr>
        <p:txBody>
          <a:bodyPr wrap="square">
            <a:spAutoFit/>
          </a:bodyPr>
          <a:p>
            <a:pPr indent="0" fontAlgn="auto">
              <a:lnSpc>
                <a:spcPct val="100000"/>
              </a:lnSpc>
            </a:pPr>
            <a:r>
              <a:rPr lang="en-US" altLang="en-US" sz="1200" b="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num_ftrs = model.classifier[1].in_features</a:t>
            </a:r>
            <a:endParaRPr lang="en-US" altLang="en-US" sz="1200" b="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200" b="0">
                <a:solidFill>
                  <a:srgbClr val="FF000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model.classifier[1] = nn.Linear(num_ftrs, num_classes)</a:t>
            </a:r>
            <a:endParaRPr lang="en-US" altLang="en-US" sz="1200" b="0">
              <a:solidFill>
                <a:srgbClr val="FF000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  <p:bldP spid="5" grpId="0" bldLvl="0" animBg="1"/>
      <p:bldP spid="5" grpId="1" animBg="1"/>
      <p:bldP spid="2" grpId="0" bldLvl="0" animBg="1"/>
      <p:bldP spid="2" grpId="1" animBg="1"/>
      <p:bldP spid="8" grpId="0" bldLvl="0" animBg="1"/>
      <p:bldP spid="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284410"/>
            <a:ext cx="1160145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900" b="1" i="0" u="none" strike="noStrike" cap="none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Number of </a:t>
            </a:r>
            <a:r>
              <a:rPr lang="en-US" altLang="en-US" sz="3900" b="1" i="0" u="none" strike="noStrike" cap="none">
                <a:solidFill>
                  <a:srgbClr val="38BD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Parameters used</a:t>
            </a:r>
            <a:endParaRPr lang="en-US" altLang="en-US" sz="3900" b="1" i="0" u="none" strike="noStrike" cap="none">
              <a:solidFill>
                <a:srgbClr val="38BD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graphicFrame>
        <p:nvGraphicFramePr>
          <p:cNvPr id="225" name="Google Shape;225;p22"/>
          <p:cNvGraphicFramePr/>
          <p:nvPr/>
        </p:nvGraphicFramePr>
        <p:xfrm>
          <a:off x="571500" y="1911985"/>
          <a:ext cx="10267315" cy="3074670"/>
        </p:xfrm>
        <a:graphic>
          <a:graphicData uri="http://schemas.openxmlformats.org/drawingml/2006/table">
            <a:tbl>
              <a:tblPr firstRow="1" bandRow="1">
                <a:noFill/>
                <a:tableStyleId>{50A6CB85-96AA-417C-8ABD-3B2EF571081A}</a:tableStyleId>
              </a:tblPr>
              <a:tblGrid>
                <a:gridCol w="3065780"/>
                <a:gridCol w="3349625"/>
                <a:gridCol w="3851910"/>
              </a:tblGrid>
              <a:tr h="5124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b="1" i="0" u="none" strike="noStrike" cap="none">
                          <a:solidFill>
                            <a:srgbClr val="38BD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Parameter Category</a:t>
                      </a:r>
                      <a:endParaRPr lang="en-US" altLang="en-US" sz="1800" b="1" i="0" u="none" strike="noStrike" cap="none">
                        <a:solidFill>
                          <a:srgbClr val="38BDF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Custom CNN (From Scratch)</a:t>
                      </a:r>
                      <a:endParaRPr lang="en-US" sz="1800" b="1" i="0" u="none" strike="noStrike" cap="none">
                        <a:solidFill>
                          <a:srgbClr val="38BDF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MobileNetV2 (Transfer Learning)</a:t>
                      </a:r>
                      <a:endParaRPr lang="en-US" sz="1800" b="1" i="0" u="none" strike="noStrike" cap="none">
                        <a:solidFill>
                          <a:srgbClr val="38BDF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50" b="1" i="0" u="none" strike="noStrike" cap="none">
                          <a:solidFill>
                            <a:schemeClr val="tx1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Original Full Model</a:t>
                      </a:r>
                      <a:endParaRPr lang="en-US" altLang="en-US" sz="1650" b="1" i="0" u="none" strike="noStrike" cap="none">
                        <a:solidFill>
                          <a:schemeClr val="tx1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N/A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3,504,872</a:t>
                      </a:r>
                      <a:endParaRPr lang="en-US" alt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50" b="1" i="0" u="none" strike="noStrike" cap="none">
                          <a:solidFill>
                            <a:schemeClr val="tx1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Removed Original Head</a:t>
                      </a:r>
                      <a:endParaRPr lang="en-US" altLang="en-US" sz="1650" b="1" i="0" u="none" strike="noStrike" cap="none">
                        <a:solidFill>
                          <a:schemeClr val="tx1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N/A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-1,281,000</a:t>
                      </a:r>
                      <a:endParaRPr lang="en-US" alt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50" b="1" i="0" u="none" strike="noStrike" cap="none">
                          <a:solidFill>
                            <a:schemeClr val="tx1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Frozen Parameters</a:t>
                      </a:r>
                      <a:endParaRPr lang="en-US" altLang="en-US" sz="1650" b="1" i="0" u="none" strike="noStrike" cap="none">
                        <a:solidFill>
                          <a:schemeClr val="tx1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0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2,223,872</a:t>
                      </a:r>
                      <a:endParaRPr lang="en-US" alt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50" b="1" i="0" u="none" strike="noStrike" cap="none">
                          <a:solidFill>
                            <a:schemeClr val="tx1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Trainable Parameters</a:t>
                      </a:r>
                      <a:endParaRPr lang="en-US" altLang="en-US" sz="1650" b="1" i="0" u="none" strike="noStrike" cap="none">
                        <a:solidFill>
                          <a:schemeClr val="tx1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293,194</a:t>
                      </a:r>
                      <a:endParaRPr lang="en-US" alt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12,810</a:t>
                      </a:r>
                      <a:endParaRPr lang="en-US" alt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50" b="1" i="0" u="none" strike="noStrike" cap="none">
                          <a:solidFill>
                            <a:schemeClr val="tx1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Total Active Parameters</a:t>
                      </a:r>
                      <a:endParaRPr lang="en-US" altLang="en-US" sz="1650" b="1" i="0" u="none" strike="noStrike" cap="none">
                        <a:solidFill>
                          <a:schemeClr val="tx1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293,194</a:t>
                      </a:r>
                      <a:endParaRPr lang="en-US" alt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2,236,682</a:t>
                      </a:r>
                      <a:endParaRPr lang="en-US" alt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13715"/>
            <a:ext cx="11601450" cy="742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900" b="1" i="0" u="none" strike="noStrike" cap="none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Training &amp; Validation Sets - Custom CNN</a:t>
            </a:r>
            <a:endParaRPr lang="en-US" altLang="en-US" sz="3900" b="1" i="0" u="none" strike="noStrike" cap="none">
              <a:solidFill>
                <a:schemeClr val="bg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3900" b="1" i="0" u="none" strike="noStrike" cap="none">
              <a:solidFill>
                <a:schemeClr val="bg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3" name="Picture 2" descr="custom_cnn_from_scratch_histo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" y="1408430"/>
            <a:ext cx="10972800" cy="4572000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 flipV="1">
            <a:off x="6329680" y="4495165"/>
            <a:ext cx="914400" cy="254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>
            <a:off x="8526145" y="1281430"/>
            <a:ext cx="11430" cy="4572000"/>
          </a:xfrm>
          <a:prstGeom prst="line">
            <a:avLst/>
          </a:prstGeom>
          <a:ln w="38100" cap="flat" cmpd="sng" algn="ctr">
            <a:solidFill>
              <a:srgbClr val="00B050"/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3122930" y="1313180"/>
            <a:ext cx="11430" cy="4572000"/>
          </a:xfrm>
          <a:prstGeom prst="line">
            <a:avLst/>
          </a:prstGeom>
          <a:ln w="38100" cap="flat" cmpd="sng" algn="ctr">
            <a:solidFill>
              <a:srgbClr val="00B050"/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13715"/>
            <a:ext cx="11601450" cy="742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900" b="1" i="0" u="none" strike="noStrike" cap="none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Training &amp; Validation Sets</a:t>
            </a:r>
            <a:r>
              <a:rPr lang="en-US" altLang="en-US" sz="3900" b="1" i="0" u="none" strike="noStrike" cap="none">
                <a:solidFill>
                  <a:srgbClr val="38BD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- Transfer Learning</a:t>
            </a:r>
            <a:endParaRPr lang="en-US" altLang="en-US" sz="3900" b="1" i="0" u="none" strike="noStrike" cap="none">
              <a:solidFill>
                <a:srgbClr val="38BD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3" name="Picture 2" descr="transfer_learning_mobilenetv2_histo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" y="1383030"/>
            <a:ext cx="10972800" cy="4572000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 flipV="1">
            <a:off x="6398260" y="3204845"/>
            <a:ext cx="822960" cy="254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0" y="5990590"/>
            <a:ext cx="12192635" cy="7975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>
              <a:spcAft>
                <a:spcPct val="60000"/>
              </a:spcAft>
            </a:pPr>
            <a:r>
              <a:rPr lang="en-US" altLang="en-US" sz="1600" b="1">
                <a:solidFill>
                  <a:schemeClr val="bg1"/>
                </a:solidFill>
                <a:sym typeface="+mn-ea"/>
              </a:rPr>
              <a:t>Conclusion:</a:t>
            </a:r>
            <a:r>
              <a:rPr lang="en-US" altLang="en-US" sz="1600">
                <a:solidFill>
                  <a:schemeClr val="bg1"/>
                </a:solidFill>
                <a:sym typeface="+mn-ea"/>
              </a:rPr>
              <a:t> MobileNetV2 achieved 82.5% validation accuracy in its very first epoch. In contrast, it took Custom CNN 18 full epochs of intense training just to cross the 75% mark. This proves that MobileNetV2 didn't just learn faster; it arrived already knowing how to extract complex features, requiring only minor classification adjustments to immediately master our specific dataset.</a:t>
            </a:r>
            <a:endParaRPr lang="en-US" altLang="en-US" sz="16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8745855" y="1281430"/>
            <a:ext cx="11430" cy="4572000"/>
          </a:xfrm>
          <a:prstGeom prst="line">
            <a:avLst/>
          </a:prstGeom>
          <a:ln w="38100" cap="flat" cmpd="sng" algn="ctr">
            <a:solidFill>
              <a:srgbClr val="00B050"/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3296285" y="1276350"/>
            <a:ext cx="11430" cy="4572000"/>
          </a:xfrm>
          <a:prstGeom prst="line">
            <a:avLst/>
          </a:prstGeom>
          <a:ln w="38100" cap="flat" cmpd="sng" algn="ctr">
            <a:solidFill>
              <a:srgbClr val="00B050"/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13715"/>
            <a:ext cx="11601450" cy="742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900" b="1" i="0" u="none" strike="noStrike" cap="none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Confusion Matrix</a:t>
            </a:r>
            <a:r>
              <a:rPr lang="en-US" altLang="en-US" sz="3900" b="1" i="0" u="none" strike="noStrike" cap="none">
                <a:solidFill>
                  <a:srgbClr val="38BD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of Test Set</a:t>
            </a:r>
            <a:endParaRPr lang="en-US" altLang="en-US" sz="3900" b="1" i="0" u="none" strike="noStrike" cap="none">
              <a:solidFill>
                <a:srgbClr val="38BD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3" name="Picture 2" descr="custom_cnn_from_scratch_confusion_matr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" y="1550035"/>
            <a:ext cx="5714540" cy="4572000"/>
          </a:xfrm>
          <a:prstGeom prst="rect">
            <a:avLst/>
          </a:prstGeom>
        </p:spPr>
      </p:pic>
      <p:pic>
        <p:nvPicPr>
          <p:cNvPr id="2" name="Picture 1" descr="transfer_learning_mobilenetv2_confusion_matr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505" y="1550035"/>
            <a:ext cx="5714864" cy="45720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037080" y="3545840"/>
            <a:ext cx="429260" cy="440055"/>
          </a:xfrm>
          <a:prstGeom prst="ellipse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11780" y="2814320"/>
            <a:ext cx="429260" cy="440055"/>
          </a:xfrm>
          <a:prstGeom prst="ellipse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003040" y="1717040"/>
            <a:ext cx="429260" cy="440055"/>
          </a:xfrm>
          <a:prstGeom prst="ellipse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061960" y="3545840"/>
            <a:ext cx="429260" cy="440055"/>
          </a:xfrm>
          <a:prstGeom prst="ellipse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842375" y="2814320"/>
            <a:ext cx="429260" cy="440055"/>
          </a:xfrm>
          <a:prstGeom prst="ellipse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bldLvl="0" animBg="1"/>
      <p:bldP spid="11" grpId="0" bldLvl="0" animBg="1"/>
      <p:bldP spid="12" grpId="0" bldLvl="0" animBg="1"/>
      <p:bldP spid="5" grpId="1" animBg="1"/>
      <p:bldP spid="7" grpId="1" animBg="1"/>
      <p:bldP spid="11" grpId="1" animBg="1"/>
      <p:bldP spid="12" grpId="1" animBg="1"/>
      <p:bldP spid="8" grpId="0" bldLvl="0" animBg="1"/>
      <p:bldP spid="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5" name="Google Shape;225;p22"/>
          <p:cNvGraphicFramePr/>
          <p:nvPr/>
        </p:nvGraphicFramePr>
        <p:xfrm>
          <a:off x="571500" y="1546770"/>
          <a:ext cx="11049025" cy="4552975"/>
        </p:xfrm>
        <a:graphic>
          <a:graphicData uri="http://schemas.openxmlformats.org/drawingml/2006/table">
            <a:tbl>
              <a:tblPr firstRow="1" bandRow="1">
                <a:noFill/>
                <a:tableStyleId>{50A6CB85-96AA-417C-8ABD-3B2EF571081A}</a:tableStyleId>
              </a:tblPr>
              <a:tblGrid>
                <a:gridCol w="3299375"/>
                <a:gridCol w="3604925"/>
                <a:gridCol w="4144725"/>
              </a:tblGrid>
              <a:tr h="650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Metric</a:t>
                      </a:r>
                      <a:endParaRPr lang="en-US" sz="1800" b="1" i="0" u="none" strike="noStrike" cap="none">
                        <a:solidFill>
                          <a:srgbClr val="38BDF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Custom CNN (From Scratch)</a:t>
                      </a:r>
                      <a:endParaRPr lang="en-US" sz="1800" b="1" i="0" u="none" strike="noStrike" cap="none">
                        <a:solidFill>
                          <a:srgbClr val="38BDF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MobileNetV2 (Transfer Learning)</a:t>
                      </a:r>
                      <a:endParaRPr lang="en-US" sz="1800" b="1" i="0" u="none" strike="noStrike" cap="none">
                        <a:solidFill>
                          <a:srgbClr val="38BDF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650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Total Epochs Run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25/30 Epochs (Early Stopped)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20 Epochs (Completed)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50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Total Training Time (CPU)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~22 minutes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~76 minutes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50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Final Test Accuracy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76%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87%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50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Best Class Performance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Automobile (90%)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Automobile (93%)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50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Weakest Class Performance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Cat (61%)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Cat (77%)</a:t>
                      </a:r>
                      <a:endParaRPr lang="en-US" sz="16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6" name="Google Shape;226;p22"/>
          <p:cNvSpPr txBox="1"/>
          <p:nvPr/>
        </p:nvSpPr>
        <p:spPr>
          <a:xfrm>
            <a:off x="571500" y="571500"/>
            <a:ext cx="11601450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Final </a:t>
            </a:r>
            <a:r>
              <a:rPr lang="en-US" sz="3900" b="1" i="0" u="none" strike="noStrike" cap="none">
                <a:solidFill>
                  <a:srgbClr val="38BD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Performance Metrics</a:t>
            </a:r>
            <a:endParaRPr lang="en-US" sz="3900" b="1" i="0" u="none" strike="noStrike" cap="none">
              <a:solidFill>
                <a:srgbClr val="38BD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571500" y="2194470"/>
            <a:ext cx="329937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3870870" y="2194470"/>
            <a:ext cx="3604914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7475785" y="2194470"/>
            <a:ext cx="4144714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71500" y="2856458"/>
            <a:ext cx="32993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3870870" y="2856458"/>
            <a:ext cx="360491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7475785" y="2856458"/>
            <a:ext cx="414471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71500" y="3504158"/>
            <a:ext cx="32993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870870" y="3504158"/>
            <a:ext cx="360491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7475785" y="3504158"/>
            <a:ext cx="414471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71500" y="4151858"/>
            <a:ext cx="32993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3870870" y="4151858"/>
            <a:ext cx="360491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7475785" y="4151858"/>
            <a:ext cx="414471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571500" y="4799558"/>
            <a:ext cx="32993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3870870" y="4799558"/>
            <a:ext cx="360491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7475785" y="4799558"/>
            <a:ext cx="414471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5447258"/>
            <a:ext cx="32993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3870870" y="5447258"/>
            <a:ext cx="360491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7475785" y="5447258"/>
            <a:ext cx="414471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571500" y="571500"/>
            <a:ext cx="1160145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900" b="1" i="0" u="none" strike="noStrike" cap="none">
                <a:solidFill>
                  <a:schemeClr val="bg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Project Challenges</a:t>
            </a:r>
            <a:r>
              <a:rPr lang="en-US" altLang="en-US" sz="3900" b="1" i="0" u="none" strike="noStrike" cap="none">
                <a:solidFill>
                  <a:srgbClr val="38BD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and Solutions</a:t>
            </a:r>
            <a:endParaRPr lang="en-US" altLang="en-US" sz="3900" b="1" i="0" u="none" strike="noStrike" cap="none">
              <a:solidFill>
                <a:srgbClr val="38BD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graphicFrame>
        <p:nvGraphicFramePr>
          <p:cNvPr id="225" name="Google Shape;225;p22"/>
          <p:cNvGraphicFramePr/>
          <p:nvPr/>
        </p:nvGraphicFramePr>
        <p:xfrm>
          <a:off x="571500" y="1585595"/>
          <a:ext cx="11005820" cy="3906520"/>
        </p:xfrm>
        <a:graphic>
          <a:graphicData uri="http://schemas.openxmlformats.org/drawingml/2006/table">
            <a:tbl>
              <a:tblPr firstRow="1" bandRow="1">
                <a:noFill/>
                <a:tableStyleId>{50A6CB85-96AA-417C-8ABD-3B2EF571081A}</a:tableStyleId>
              </a:tblPr>
              <a:tblGrid>
                <a:gridCol w="3840480"/>
                <a:gridCol w="7165340"/>
              </a:tblGrid>
              <a:tr h="8280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38BD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Challenge</a:t>
                      </a:r>
                      <a:endParaRPr lang="en-US" sz="2400" b="1" i="0" u="none" strike="noStrike" cap="none">
                        <a:solidFill>
                          <a:srgbClr val="38BDF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38BD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Solution</a:t>
                      </a:r>
                      <a:endParaRPr lang="en-US" sz="2400" b="1" i="0" u="none" strike="noStrike" cap="none">
                        <a:solidFill>
                          <a:srgbClr val="38BDF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150876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b="1" i="0" u="none" strike="noStrike" cap="none">
                          <a:solidFill>
                            <a:schemeClr val="tx1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Overfitting and Class Confusion (Custom CNN Focus)</a:t>
                      </a:r>
                      <a:endParaRPr lang="en-US" altLang="en-US" sz="1800" b="1" i="0" u="none" strike="noStrike" cap="none">
                        <a:solidFill>
                          <a:schemeClr val="tx1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Data Augmentation (random crops and horizontal flips)</a:t>
                      </a:r>
                      <a:endParaRPr lang="en-US" altLang="en-US" sz="180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  <a:p>
                      <a:pPr marL="285750" marR="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Dropout regularization (up to 45%) to the dense layers</a:t>
                      </a:r>
                      <a:endParaRPr lang="en-US" altLang="en-US" sz="180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  <a:p>
                      <a:pPr marL="285750" marR="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Implemented an Early Stopping safety net</a:t>
                      </a:r>
                      <a:endParaRPr lang="en-US" altLang="en-US" sz="180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56972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b="1" i="0" u="none" strike="noStrike" cap="none">
                          <a:solidFill>
                            <a:schemeClr val="tx1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Strict Hardware Limitations (Custom Transfer Learning Focus)</a:t>
                      </a:r>
                      <a:endParaRPr lang="en-US" altLang="en-US" sz="1800" b="1" i="0" u="none" strike="noStrike" cap="none">
                        <a:solidFill>
                          <a:schemeClr val="tx1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Selected MobileNetV2 instead of ResNet or VGG16</a:t>
                      </a:r>
                      <a:endParaRPr lang="en-US" altLang="en-US" sz="180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  <a:p>
                      <a:pPr marL="285750" marR="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Froze over 2.2 million parameters in the pre-trained feature extractor, reducing trainable weights to just 12,810</a:t>
                      </a:r>
                      <a:endParaRPr lang="en-US" altLang="en-US" sz="180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  <a:p>
                      <a:pPr marL="285750" marR="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Resized the photos to 128x128 instead of 224x224</a:t>
                      </a:r>
                      <a:endParaRPr lang="en-US" altLang="en-US" sz="180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295275" y="3034030"/>
            <a:ext cx="11601450" cy="78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Thank </a:t>
            </a:r>
            <a:r>
              <a:rPr lang="en-US" sz="4800" b="1" i="0" u="none" strike="noStrike" cap="none">
                <a:solidFill>
                  <a:srgbClr val="38BD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You !</a:t>
            </a:r>
            <a:endParaRPr lang="en-US" sz="4800" b="1" i="0" u="none" strike="noStrike" cap="none">
              <a:solidFill>
                <a:srgbClr val="38BD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5450</Words>
  <Application>WPS Presentation</Application>
  <PresentationFormat>Widescreen</PresentationFormat>
  <Paragraphs>241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SimSun</vt:lpstr>
      <vt:lpstr>Wingdings</vt:lpstr>
      <vt:lpstr>Wingdings</vt:lpstr>
      <vt:lpstr>Urbanist SemiBold</vt:lpstr>
      <vt:lpstr>Yu Gothic UI Semibold</vt:lpstr>
      <vt:lpstr>Urbanist</vt:lpstr>
      <vt:lpstr>Google Sans Text</vt:lpstr>
      <vt:lpstr>Calibri</vt:lpstr>
      <vt:lpstr>Calibri</vt:lpstr>
      <vt:lpstr>Microsoft YaHei</vt:lpstr>
      <vt:lpstr>Arial Unicode MS</vt:lpstr>
      <vt:lpstr>Segoe Print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/>
  <cp:lastModifiedBy>Jawad</cp:lastModifiedBy>
  <cp:revision>228</cp:revision>
  <dcterms:created xsi:type="dcterms:W3CDTF">2026-07-09T09:40:00Z</dcterms:created>
  <dcterms:modified xsi:type="dcterms:W3CDTF">2026-07-14T18:00:14Z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E91EFF80F6454AA490D8DEA9B3765BD9_13</vt:lpwstr>
  </property>
</Properties>
</file>